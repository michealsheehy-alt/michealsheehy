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84048"/>
            <a:ext cx="11292840" cy="6071616"/>
          </a:xfrm>
          <a:prstGeom prst="rect">
            <a:avLst/>
          </a:prstGeom>
          <a:solidFill>
            <a:srgbClr val="071A2F">
              <a:alpha val="0"/>
            </a:srgbClr>
          </a:solidFill>
          <a:ln w="12700">
            <a:solidFill>
              <a:srgbClr val="C9A34A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658368"/>
            <a:ext cx="475488" cy="475488"/>
          </a:xfrm>
          <a:prstGeom prst="rect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6352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335024" y="8046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713232" y="1572768"/>
            <a:ext cx="5989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 of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Alone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49808" y="3374136"/>
            <a:ext cx="1078992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712464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Rethinking financial crime compliance for an adaptive world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2700000">
            <a:off x="7754112" y="1298448"/>
            <a:ext cx="2633472" cy="2633472"/>
          </a:xfrm>
          <a:prstGeom prst="rect">
            <a:avLst/>
          </a:prstGeom>
          <a:solidFill>
            <a:srgbClr val="F7F4EA">
              <a:alpha val="0"/>
            </a:srgbClr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5592" y="232257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C9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7242048" y="841248"/>
            <a:ext cx="3657600" cy="3657600"/>
          </a:xfrm>
          <a:prstGeom prst="arc">
            <a:avLst/>
          </a:prstGeom>
          <a:noFill/>
          <a:ln w="12700">
            <a:solidFill>
              <a:srgbClr val="B9C1C9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52303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Chief Compliance Officer, Payoneer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966960" y="53583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C9A34A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F7F4EA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argument in six movements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story: from the false comfort of efficiency to governance that learns.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86384" y="21396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7320" y="2267712"/>
            <a:ext cx="4572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51960" y="21214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efficiency became the wrong goal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786384" y="2734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17320" y="2862072"/>
            <a:ext cx="4572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51960" y="27157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enforcement actions keep revealing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786384" y="33284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17320" y="3456432"/>
            <a:ext cx="4572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3291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51960" y="33101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drift and continuous change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86384" y="39227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17320" y="4050792"/>
            <a:ext cx="4572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39044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compliance maturity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86384" y="4517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17320" y="4645152"/>
            <a:ext cx="4572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4480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251960" y="44988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AI, organization design and strategic value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786384" y="51114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17320" y="5239512"/>
            <a:ext cx="4572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93392" y="5074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251960" y="50932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Roadmap, questions and practical tools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9893808" y="1280160"/>
            <a:ext cx="0" cy="406908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12680" y="224028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0D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controls that operate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0D2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organizations that learn.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E9E2D0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years of optimizing the wrong thing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metrics created efficient programs that may not detect emerging risk.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2450592"/>
            <a:ext cx="20574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9748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false positives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operational efficiency. Does not prove the risk model is still sensitive to change.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77640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77640" y="2450592"/>
            <a:ext cx="20574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69748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investigations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7640" y="3383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operational efficiency. Does not prove the risk model is still sensitive to change.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0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40880" y="2450592"/>
            <a:ext cx="20574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69748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 cost per alert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040880" y="3383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operational efficiency. Does not prove the risk model is still sensitive to change.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709160"/>
            <a:ext cx="10012680" cy="822960"/>
          </a:xfrm>
          <a:prstGeom prst="rect">
            <a:avLst/>
          </a:prstGeom>
          <a:solidFill>
            <a:srgbClr val="0D2A45">
              <a:alpha val="94000"/>
            </a:srgbClr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4910328"/>
            <a:ext cx="9500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uncomfortable result: efficient programs that may become less effective as customers, criminals and markets change.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C9A34A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F7F4EA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institutions. Three outcomes.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dashboards can hide risk. Adaptive governance makes weak signals visible early.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221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look good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770632"/>
            <a:ext cx="33832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44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down 32% · false positives 3.2% · speed 2.1 hrs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B36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Silent avoidance of low-value cross-border cases allows a structuring pattern to emerge.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448056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2221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performs well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480560" y="2770632"/>
            <a:ext cx="33832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3044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stable · false positives 2.8% · validation passed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480560" y="3886200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B36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behavior changes the data. The model does not adapt until regulators find it.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2296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 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0" y="2221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learns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229600" y="2770632"/>
            <a:ext cx="338328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044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reviews · emerging typology detected · monitoring updated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229600" y="3886200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is recognized in month 3, governed in month 5, and managed before escalation.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786384" y="5330952"/>
            <a:ext cx="102412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55961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is not the tool. It is governance velocity.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E9E2D0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regulators keep finding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institutions. Familiar control failures.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841248" y="1847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Outdated assumptions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26280" y="188366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operate while the risk environment changes.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2377440"/>
            <a:ext cx="9509760" cy="0"/>
          </a:xfrm>
          <a:prstGeom prst="line">
            <a:avLst/>
          </a:prstGeom>
          <a:noFill/>
          <a:ln w="12700">
            <a:solidFill>
              <a:srgbClr val="C9A34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ownership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26883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signals get trapped in silos.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3182112"/>
            <a:ext cx="9509760" cy="0"/>
          </a:xfrm>
          <a:prstGeom prst="line">
            <a:avLst/>
          </a:prstGeom>
          <a:noFill/>
          <a:ln w="12700">
            <a:solidFill>
              <a:srgbClr val="C9A34A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4564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Delayed escalation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26280" y="34930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Problems become visible after audit or regulatory action.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3986784"/>
            <a:ext cx="9509760" cy="0"/>
          </a:xfrm>
          <a:prstGeom prst="line">
            <a:avLst/>
          </a:prstGeom>
          <a:noFill/>
          <a:ln w="12700">
            <a:solidFill>
              <a:srgbClr val="C9A34A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261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remediation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26280" y="42976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are fixed without fixing the system.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41248" y="4791456"/>
            <a:ext cx="9509760" cy="0"/>
          </a:xfrm>
          <a:prstGeom prst="line">
            <a:avLst/>
          </a:prstGeom>
          <a:noFill/>
          <a:ln w="12700">
            <a:solidFill>
              <a:srgbClr val="C9A34A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046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pattern. Different institutions.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5532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recurring weakness is not simply bad detection. It is slow learning.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C9A34A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F7F4EA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model drifts on day one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behavior, products and typologies change faster than most governance cycles.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1005840" y="5074920"/>
            <a:ext cx="896112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5074920"/>
            <a:ext cx="0" cy="-320040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4645152"/>
            <a:ext cx="1280160" cy="-301752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4343400"/>
            <a:ext cx="1463040" cy="-393192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3950208"/>
            <a:ext cx="1508760" cy="-54864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3401568"/>
            <a:ext cx="1417320" cy="-54864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852928"/>
            <a:ext cx="1325880" cy="-402336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2450592"/>
            <a:ext cx="1280160" cy="-54864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8470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assumption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85632" y="18470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 reality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24128" y="5321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drift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33272" y="5687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population entering the model changes.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126480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drift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44768" y="56875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relationship between behavior and risk changes.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464040" y="2286000"/>
            <a:ext cx="1920240" cy="1828800"/>
          </a:xfrm>
          <a:prstGeom prst="rect">
            <a:avLst/>
          </a:prstGeom>
          <a:solidFill>
            <a:srgbClr val="F3EFE4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2487168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 not if drift will occur. It is whether governance recognizes it before performance deteriorates.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E9E2D0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F7F4EA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stages of adaptive maturity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journey from controls that operate to organizations that learn.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1792" y="2743200"/>
            <a:ext cx="2130552" cy="1444752"/>
          </a:xfrm>
          <a:prstGeom prst="rect">
            <a:avLst/>
          </a:prstGeom>
          <a:solidFill>
            <a:srgbClr val="F3EFE4"/>
          </a:solidFill>
          <a:ln w="12700">
            <a:solidFill>
              <a:srgbClr val="E9E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88950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321868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6384" y="363931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drive action after they occur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43784" y="2743200"/>
            <a:ext cx="2130552" cy="1444752"/>
          </a:xfrm>
          <a:prstGeom prst="rect">
            <a:avLst/>
          </a:prstGeom>
          <a:solidFill>
            <a:srgbClr val="F3EFE4"/>
          </a:solidFill>
          <a:ln w="12700">
            <a:solidFill>
              <a:srgbClr val="E9E2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8376" y="288950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08376" y="321868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Periodic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08376" y="363931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Calendar-driven review cycles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65776" y="2743200"/>
            <a:ext cx="2130552" cy="1444752"/>
          </a:xfrm>
          <a:prstGeom prst="rect">
            <a:avLst/>
          </a:prstGeom>
          <a:solidFill>
            <a:srgbClr val="F3EFE4"/>
          </a:solidFill>
          <a:ln w="12700">
            <a:solidFill>
              <a:srgbClr val="E9E2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288950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30368" y="321868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30368" y="363931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Always-on visibility into change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87768" y="2743200"/>
            <a:ext cx="2130552" cy="1444752"/>
          </a:xfrm>
          <a:prstGeom prst="rect">
            <a:avLst/>
          </a:prstGeom>
          <a:solidFill>
            <a:srgbClr val="0D2A45"/>
          </a:solidFill>
          <a:ln w="12700">
            <a:solidFill>
              <a:srgbClr val="E9E2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88950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52360" y="321868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52360" y="363931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decisions on emerging signals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509760" y="2743200"/>
            <a:ext cx="2130552" cy="1444752"/>
          </a:xfrm>
          <a:prstGeom prst="rect">
            <a:avLst/>
          </a:prstGeom>
          <a:solidFill>
            <a:srgbClr val="0D2A45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74352" y="288950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74352" y="3218688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74352" y="363931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insight plus human judgment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4400" y="2157984"/>
            <a:ext cx="996696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68680" y="18745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Reactive hindsight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9235440" y="18745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foresight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2926080" y="4892040"/>
            <a:ext cx="6263640" cy="749808"/>
          </a:xfrm>
          <a:prstGeom prst="rect">
            <a:avLst/>
          </a:prstGeom>
          <a:solidFill>
            <a:srgbClr val="F3EFE4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82112" y="5093208"/>
            <a:ext cx="5751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maturity leap is not automation. It is learning velocity.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E9E2D0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F7F4EA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MATURITY TIMELINE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velocity matters more than tools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strategic metric is speed from signal to decision to control change.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841248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Reactive → Periodic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41248" y="2990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841248" y="3538728"/>
            <a:ext cx="1993392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776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cadence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30168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 → Continuous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630168" y="2990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3–6 months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3630168" y="3538728"/>
            <a:ext cx="1993392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3776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dashboards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19088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→ Adaptive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419088" y="2990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6–9 months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6419088" y="3538728"/>
            <a:ext cx="1993392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776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208008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→ Intelligent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9208008" y="2990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9208008" y="3538728"/>
            <a:ext cx="1993392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8008" y="3776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culture shift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" y="4892040"/>
            <a:ext cx="102412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68680" y="51663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51663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decision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29800" y="51663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change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E9E2D0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FUTURE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won't replace compliance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will replace static governance by expanding awareness and surfacing conflicts for human judgment.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3566160" y="1719072"/>
            <a:ext cx="5029200" cy="3657600"/>
          </a:xfrm>
          <a:prstGeom prst="arc">
            <a:avLst/>
          </a:prstGeom>
          <a:solidFill>
            <a:srgbClr val="071A2F">
              <a:alpha val="0"/>
            </a:srgbClr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3566160" y="1719072"/>
            <a:ext cx="5029200" cy="3657600"/>
          </a:xfrm>
          <a:prstGeom prst="arc">
            <a:avLst/>
          </a:prstGeom>
          <a:solidFill>
            <a:srgbClr val="071A2F">
              <a:alpha val="0"/>
            </a:srgbClr>
          </a:solidFill>
          <a:ln w="12700">
            <a:solidFill>
              <a:srgbClr val="B9C1C9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148840"/>
            <a:ext cx="1417320" cy="658368"/>
          </a:xfrm>
          <a:prstGeom prst="ellipse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2340864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signals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967728" y="2148840"/>
            <a:ext cx="1417320" cy="658368"/>
          </a:xfrm>
          <a:prstGeom prst="ellipse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77456" y="2340864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patterns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67728" y="4434840"/>
            <a:ext cx="1417320" cy="658368"/>
          </a:xfrm>
          <a:prstGeom prst="ellipse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77456" y="4626864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judgment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37560" y="4434840"/>
            <a:ext cx="1417320" cy="658368"/>
          </a:xfrm>
          <a:prstGeom prst="ellipse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4626864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action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43400" y="3246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expands awareness.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remain accountable.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C9A34A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F7F4EA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DESIGN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organizations that actually learn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enables adaptation. Governance coordinates it. Leadership reinforces it.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14400" y="19385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intelligence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914400" y="2542032"/>
            <a:ext cx="65836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862072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cross-functional risk briefings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3364992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signal repository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3867912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3749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escalation paths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19385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governance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65836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862072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2592" y="27432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decision rights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0" y="3364992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32461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when evidence is available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0" y="3867912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37490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implementation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303520" y="2029968"/>
            <a:ext cx="0" cy="2999232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530352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 is the operating system.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E9E2D0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F7F4EA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SHIFT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what matters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efficiency metrics to adaptation metrics.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841248" y="1828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metrics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41248" y="2734056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6151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volumes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841248" y="3227832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False-positive rate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841248" y="3721608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6027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time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841248" y="4215384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4096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Productivity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6839712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metrics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6839712" y="2734056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261518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of risk detection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6839712" y="3227832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8624" y="3108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drift detection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6839712" y="3721608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36027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to implement changes</a:t>
            </a:r>
            <a:endParaRPr lang="en-US" sz="1330" dirty="0"/>
          </a:p>
        </p:txBody>
      </p:sp>
      <p:sp>
        <p:nvSpPr>
          <p:cNvPr id="23" name="Shape 21"/>
          <p:cNvSpPr/>
          <p:nvPr/>
        </p:nvSpPr>
        <p:spPr>
          <a:xfrm>
            <a:off x="6839712" y="4215384"/>
            <a:ext cx="292608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78624" y="40965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impact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868680" y="4983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work gets done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4983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fast you learn and adapt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75504" y="2286000"/>
            <a:ext cx="123444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749040" y="5504688"/>
            <a:ext cx="4663440" cy="475488"/>
          </a:xfrm>
          <a:prstGeom prst="rect">
            <a:avLst/>
          </a:prstGeom>
          <a:solidFill>
            <a:srgbClr val="F3EFE4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5705856"/>
            <a:ext cx="4151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Organizations rarely improve what they fail to measure.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E9E2D0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VALUE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compliance as strategic capability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a defensive posture: a faster way to grow with confidence.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60120" y="21671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581912" y="2130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81912" y="2532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new markets with confidence.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1581912" y="2953512"/>
            <a:ext cx="3840480" cy="0"/>
          </a:xfrm>
          <a:prstGeom prst="line">
            <a:avLst/>
          </a:prstGeom>
          <a:noFill/>
          <a:ln w="12700">
            <a:solidFill>
              <a:srgbClr val="C9A34A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546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581912" y="3118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81912" y="35204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Regulators, partners and customers see an institution that understands risk.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581912" y="3941064"/>
            <a:ext cx="3840480" cy="0"/>
          </a:xfrm>
          <a:prstGeom prst="line">
            <a:avLst/>
          </a:prstGeom>
          <a:noFill/>
          <a:ln w="12700">
            <a:solidFill>
              <a:srgbClr val="C9A34A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142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581912" y="41056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decisions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81912" y="45079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leaders get sharper context for strategy.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1581912" y="4928616"/>
            <a:ext cx="3840480" cy="0"/>
          </a:xfrm>
          <a:prstGeom prst="line">
            <a:avLst/>
          </a:prstGeom>
          <a:noFill/>
          <a:ln w="12700">
            <a:solidFill>
              <a:srgbClr val="C9A34A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1671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159752" y="2130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159752" y="25328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Continuously updated controls are more effective and less costly.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159752" y="2953512"/>
            <a:ext cx="3840480" cy="0"/>
          </a:xfrm>
          <a:prstGeom prst="line">
            <a:avLst/>
          </a:prstGeom>
          <a:noFill/>
          <a:ln w="12700">
            <a:solidFill>
              <a:srgbClr val="C9A34A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1546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159752" y="3118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159752" y="35204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before external intervention becomes necessary.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159752" y="3941064"/>
            <a:ext cx="3840480" cy="0"/>
          </a:xfrm>
          <a:prstGeom prst="line">
            <a:avLst/>
          </a:prstGeom>
          <a:noFill/>
          <a:ln w="12700">
            <a:solidFill>
              <a:srgbClr val="C9A34A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5074920"/>
            <a:ext cx="4160520" cy="676656"/>
          </a:xfrm>
          <a:prstGeom prst="rect">
            <a:avLst/>
          </a:prstGeom>
          <a:solidFill>
            <a:srgbClr val="0D2A45">
              <a:alpha val="94000"/>
            </a:srgbClr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5276088"/>
            <a:ext cx="3648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compliance turns risk management into strategic confidence.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C9A34A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F7F4EA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ACTION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roadmap: where to start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capability that matches your current maturity stage.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2532888"/>
            <a:ext cx="192024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2549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Chapter 6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777240" y="316382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monthly governance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77240" y="393192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months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Periodic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2532888"/>
            <a:ext cx="192024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82549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Chapter 3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3520440" y="316382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continuous monitoring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520440" y="393192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3–6 months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6263640" y="2057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63640" y="2532888"/>
            <a:ext cx="192024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82549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Chapter 5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263640" y="316382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decision rights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263640" y="393192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6–9 months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9006840" y="2057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006840" y="2532888"/>
            <a:ext cx="192024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282549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Chapter 5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9006840" y="316382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AI layer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9006840" y="393192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Ongoing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22960" y="4828032"/>
            <a:ext cx="100126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920240" y="52852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one capability first: monitoring, AI integration or organizational redesign.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E9E2D0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F7F4EA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TOOLKIT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leaders should ask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diagnostic for whether governance is learning fast enough.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53312" y="190195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quickly does governance recognize material changes in risk?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353312" y="2468880"/>
            <a:ext cx="38404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9809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53312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controls depend on assumptions not being monitored continuously?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353312" y="3529584"/>
            <a:ext cx="38404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0416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53312" y="402336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risk intelligence get trapped before reaching decision-makers?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353312" y="4590288"/>
            <a:ext cx="38404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920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22592" y="190195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long from detecting a new typology to changing a control?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022592" y="2468880"/>
            <a:ext cx="38404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9809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22592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investigations, audits or findings changed future controls?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022592" y="3529584"/>
            <a:ext cx="38404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40416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22592" y="402336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compliance enable faster, better-informed business decisions?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022592" y="4590288"/>
            <a:ext cx="3840480" cy="0"/>
          </a:xfrm>
          <a:prstGeom prst="line">
            <a:avLst/>
          </a:prstGeom>
          <a:noFill/>
          <a:ln w="12700">
            <a:solidFill>
              <a:srgbClr val="E9E2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E9E2D0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 of Rules Alone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Rules, models and controls remain essential. They are no longer sufficient on their own.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042416" y="2944368"/>
            <a:ext cx="9738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defining capability of modern compliance is the ability to recognize change, challenge assumptions and adapt governance continuously.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74920" y="3986784"/>
            <a:ext cx="196596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4425696"/>
            <a:ext cx="8183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institutions that move fastest are not those that ignore risk.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those that understand it earliest.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C9A34A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F7F4EA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A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TO ACTION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argument into action.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60120" y="2551176"/>
            <a:ext cx="9144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13969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Series, Volume 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21214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09360" y="2551176"/>
            <a:ext cx="9144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13969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Quick Diagnostic to assess governance maturity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6301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60120" y="4059936"/>
            <a:ext cx="9144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64845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implementation roadmap for your organization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6301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309360" y="4059936"/>
            <a:ext cx="914400" cy="0"/>
          </a:xfrm>
          <a:prstGeom prst="line">
            <a:avLst/>
          </a:prstGeom>
          <a:noFill/>
          <a:ln w="12700">
            <a:solidFill>
              <a:srgbClr val="C9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364845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 capability: monitoring, AI or redesign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057400" y="5486400"/>
            <a:ext cx="8046720" cy="475488"/>
          </a:xfrm>
          <a:prstGeom prst="rect">
            <a:avLst/>
          </a:prstGeom>
          <a:solidFill>
            <a:srgbClr val="F3EFE4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13432" y="5687568"/>
            <a:ext cx="7534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071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speaking, advisory and publishing enquiries: michealsheehy@gmail.com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D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E9E2D0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29184" cy="329184"/>
          </a:xfrm>
          <a:prstGeom prst="rect">
            <a:avLst/>
          </a:prstGeom>
          <a:solidFill>
            <a:srgbClr val="071A2F"/>
          </a:solidFill>
          <a:ln w="12700">
            <a:solidFill>
              <a:srgbClr val="C9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489204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" y="475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speaker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compliance leadership at the intersection of payments, financial crime risk, technology and organizational design.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 is Chief Compliance Officer at Payoneer, leading a global compliance function spanning regulatory affairs, sanctions, financial crime and AML/BSA.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 career spans compliance leadership across three continents with experience in transaction monitoring, model governance, sanctions and regulatory engagement.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914400" y="369417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Compliance Series synthesizes two decades of observing why some compliance organizations adapt early while others remain trapped in periodic governance cycles.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AI · Adaptive Governance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440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michealsheehy@gmail.com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64282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Micheal Sheehy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78608" y="64282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 · Compliance · Adaptive Governance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109960" y="64282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7F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12064" y="6291072"/>
            <a:ext cx="11155680" cy="0"/>
          </a:xfrm>
          <a:prstGeom prst="line">
            <a:avLst/>
          </a:prstGeom>
          <a:noFill/>
          <a:ln w="12700">
            <a:solidFill>
              <a:srgbClr val="C9A34A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Micheal Sheehy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End of Rules Alone</dc:title>
  <dc:subject>The Adaptive Compliance Series</dc:subject>
  <dc:creator>Micheal Sheehy</dc:creator>
  <cp:lastModifiedBy>Micheal Sheehy</cp:lastModifiedBy>
  <cp:revision>1</cp:revision>
  <dcterms:created xsi:type="dcterms:W3CDTF">2026-07-26T16:14:32Z</dcterms:created>
  <dcterms:modified xsi:type="dcterms:W3CDTF">2026-07-26T16:14:32Z</dcterms:modified>
</cp:coreProperties>
</file>