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502920"/>
            <a:ext cx="4389120" cy="4389120"/>
          </a:xfrm>
          <a:prstGeom prst="arc">
            <a:avLst/>
          </a:prstGeom>
          <a:noFill/>
          <a:ln w="12700">
            <a:solidFill>
              <a:srgbClr val="B9D03F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3931920"/>
            <a:ext cx="3474720" cy="3474720"/>
          </a:xfrm>
          <a:prstGeom prst="arc">
            <a:avLst/>
          </a:prstGeom>
          <a:noFill/>
          <a:ln w="12700">
            <a:solidFill>
              <a:srgbClr val="B9D03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D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 OF</a:t>
            </a:r>
            <a:endParaRPr lang="en-US" sz="4500" dirty="0"/>
          </a:p>
          <a:p>
            <a:pPr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ALONE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58521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DE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Rethinking financial crime compliance for an adaptive world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4526280"/>
            <a:ext cx="914400" cy="64008"/>
          </a:xfrm>
          <a:prstGeom prst="rect">
            <a:avLst/>
          </a:prstGeom>
          <a:solidFill>
            <a:srgbClr val="B9D03F"/>
          </a:solidFill>
          <a:ln w="12700">
            <a:solidFill>
              <a:srgbClr val="B9D03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864608"/>
            <a:ext cx="3840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Chief Compliance Officer, Payoneer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0" y="5321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D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D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69264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argument in six movements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67665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story: from the false comfort of efficiency to governance that learns.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" y="2834640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3319272"/>
            <a:ext cx="4398264" cy="-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efficiency became the wrong goal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68680" y="3456432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657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9848" y="3959352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9848" y="4443984"/>
            <a:ext cx="4398264" cy="-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enforcement actions keep revealing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68680" y="4581144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47823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" y="5084064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9848" y="5568696"/>
            <a:ext cx="4398264" cy="-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drift and continuous change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309360" y="233172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10528" y="2834640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10528" y="3319272"/>
            <a:ext cx="4398264" cy="-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compliance maturity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309360" y="3456432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3657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0528" y="3959352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10528" y="4443984"/>
            <a:ext cx="4398264" cy="-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AI, organization design and strategic value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309360" y="4581144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47823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10528" y="5084064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10528" y="5568696"/>
            <a:ext cx="4398264" cy="-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Roadmap, questions and practical tools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8138160" y="73152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987552"/>
            <a:ext cx="25146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controls that operate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organizations that learn.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years of optimizing the wrong thing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68580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metrics created efficient programs that may not detect emerging risk.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6243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" y="292608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false positives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3410712"/>
            <a:ext cx="284378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metric. Does not prove risk coverage remains intact.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617720" y="242316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26243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292608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investigations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18888" y="3410712"/>
            <a:ext cx="284378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Productivity metric. Does not prove investigators are seeing the highest-risk activity.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366760" y="242316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7928" y="26243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67928" y="292608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Reduced cost per alert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67928" y="3410712"/>
            <a:ext cx="284378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metric. Does not prove controls still describe reality.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561320" cy="713232"/>
          </a:xfrm>
          <a:prstGeom prst="roundRect">
            <a:avLst>
              <a:gd name="adj" fmla="val 10256"/>
            </a:avLst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5212080"/>
            <a:ext cx="99669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uncomfortable result: efficient programs that may become less effective as customers, criminals and markets change.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6858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institutions. Three outcomes.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67665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dashboards can hide risk. Adaptive governance makes weak signals visible early.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" y="283464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 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3319272"/>
            <a:ext cx="2569464" cy="-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look good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25146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down 32% · FP 3.2% · speed 2.1 hrs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Silent avoidance of low-value cross-border cases allows a structuring pattern to emerge.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233172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61688" y="283464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 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61688" y="3319272"/>
            <a:ext cx="2569464" cy="-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performs well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389120" y="3429000"/>
            <a:ext cx="25146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stable · FP 2.8% · validation passed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behavior changes the data. The model does not adapt until regulators find 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52360" y="233172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26372F"/>
          </a:solidFill>
          <a:ln w="12700">
            <a:solidFill>
              <a:srgbClr val="3D4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3528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D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53528" y="283464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 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53528" y="3319272"/>
            <a:ext cx="2569464" cy="-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F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learns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7680960" y="3429000"/>
            <a:ext cx="25146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6D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reviews · emerging typology detected · monitoring updated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is recognized in month 3, governed in month 5, and managed before escalation.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31720" y="53949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is not the tool. It is governance velocity.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regulators keep finding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56692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institutions. Familiar control failures.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154680" y="3264408"/>
            <a:ext cx="566928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806440" y="3264408"/>
            <a:ext cx="566928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58200" y="3264408"/>
            <a:ext cx="566928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8680" y="260604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" y="310896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Outdated assumptions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9848" y="3593592"/>
            <a:ext cx="19293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operate while the risk environment changes.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3611880" y="260604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304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3048" y="310896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ownership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13048" y="3593592"/>
            <a:ext cx="19293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signals get trapped in silos.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355080" y="260604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56248" y="310896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Delayed escalation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56248" y="3593592"/>
            <a:ext cx="19293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Problems become visible after audit or regulatory action.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9098280" y="260604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944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99448" y="310896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remediation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99448" y="3593592"/>
            <a:ext cx="19293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are fixed without fixing the system.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1920240" y="5193792"/>
            <a:ext cx="8321040" cy="585216"/>
          </a:xfrm>
          <a:prstGeom prst="roundRect">
            <a:avLst>
              <a:gd name="adj" fmla="val 9375"/>
            </a:avLst>
          </a:prstGeom>
          <a:solidFill>
            <a:srgbClr val="E8ECE8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5385816"/>
            <a:ext cx="7772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pattern. Different institutions. The recurring weakness is not simply bad detection. It is slow learning.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6858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model drifts on day one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69494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behavior, products and typologies change faster than most governance cycles.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51560" y="2423160"/>
            <a:ext cx="2194560" cy="2194560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31272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66160" y="3502152"/>
            <a:ext cx="160020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0" y="2423160"/>
            <a:ext cx="2194560" cy="2194560"/>
          </a:xfrm>
          <a:prstGeom prst="ellipse">
            <a:avLst/>
          </a:prstGeom>
          <a:solidFill>
            <a:srgbClr val="E8ECE8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31272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reality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21040" y="22402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24414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drift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22208" y="274320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 change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22208" y="3227832"/>
            <a:ext cx="23408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population entering the model changes.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321040" y="376732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26372F"/>
          </a:solidFill>
          <a:ln w="12700">
            <a:solidFill>
              <a:srgbClr val="3D4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22208" y="39684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D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drift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22208" y="427024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changes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22208" y="4754880"/>
            <a:ext cx="23408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F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relationship between behavior and risk changes.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960120" y="55046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 not if drift will occur. It is whether governance recognizes it before performance deteriorates.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stages of adaptive maturity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64008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journey from controls that operate to organizations that learn.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581912" y="2862072"/>
            <a:ext cx="114300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94760" y="2862072"/>
            <a:ext cx="114300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07608" y="2862072"/>
            <a:ext cx="114300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0456" y="2862072"/>
            <a:ext cx="114300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433304" y="2862072"/>
            <a:ext cx="1143000" cy="0"/>
          </a:xfrm>
          <a:prstGeom prst="line">
            <a:avLst/>
          </a:prstGeom>
          <a:noFill/>
          <a:ln w="12700">
            <a:solidFill>
              <a:srgbClr val="F4F1EA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005840" y="2423160"/>
            <a:ext cx="658368" cy="658368"/>
          </a:xfrm>
          <a:prstGeom prst="ellipse">
            <a:avLst/>
          </a:prstGeom>
          <a:solidFill>
            <a:srgbClr val="E8ECE8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642616"/>
            <a:ext cx="210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3877056"/>
            <a:ext cx="1600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drive action after they occur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18688" y="2423160"/>
            <a:ext cx="658368" cy="658368"/>
          </a:xfrm>
          <a:prstGeom prst="ellipse">
            <a:avLst/>
          </a:prstGeom>
          <a:solidFill>
            <a:srgbClr val="E8ECE8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642616"/>
            <a:ext cx="210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81528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Periodic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71800" y="3877056"/>
            <a:ext cx="1600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Calendar-driven review cycles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31536" y="2423160"/>
            <a:ext cx="658368" cy="658368"/>
          </a:xfrm>
          <a:prstGeom prst="ellipse">
            <a:avLst/>
          </a:prstGeom>
          <a:solidFill>
            <a:srgbClr val="E8ECE8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0136" y="2642616"/>
            <a:ext cx="210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94376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84648" y="3877056"/>
            <a:ext cx="1600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Always-on visibility into change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44384" y="2423160"/>
            <a:ext cx="658368" cy="65836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72984" y="2642616"/>
            <a:ext cx="210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07224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97496" y="3877056"/>
            <a:ext cx="1600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decisions on emerging signals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857232" y="2423160"/>
            <a:ext cx="658368" cy="65836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85832" y="2642616"/>
            <a:ext cx="210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20072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0344" y="3877056"/>
            <a:ext cx="1600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insight plus human judgment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554480" y="5376672"/>
            <a:ext cx="9052560" cy="384048"/>
          </a:xfrm>
          <a:prstGeom prst="roundRect">
            <a:avLst>
              <a:gd name="adj" fmla="val 11905"/>
            </a:avLst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5495544"/>
            <a:ext cx="53949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maturity leap is not automation. It is learning velocity.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MATURITY TIMELINE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velocity matters more than tools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67665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strategic metric is speed from signal to decision to control change.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463040" y="2743200"/>
            <a:ext cx="201168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25880" y="2688336"/>
            <a:ext cx="109728" cy="109728"/>
          </a:xfrm>
          <a:prstGeom prst="ellipse">
            <a:avLst/>
          </a:prstGeom>
          <a:solidFill>
            <a:srgbClr val="748068"/>
          </a:solidFill>
          <a:ln w="12700">
            <a:solidFill>
              <a:srgbClr val="74806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63240"/>
            <a:ext cx="2057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Reactive → Periodic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447288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3858768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cadence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206240" y="2743200"/>
            <a:ext cx="201168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69080" y="2688336"/>
            <a:ext cx="109728" cy="109728"/>
          </a:xfrm>
          <a:prstGeom prst="ellipse">
            <a:avLst/>
          </a:prstGeom>
          <a:solidFill>
            <a:srgbClr val="748068"/>
          </a:solidFill>
          <a:ln w="12700">
            <a:solidFill>
              <a:srgbClr val="74806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063240"/>
            <a:ext cx="2057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 → Continuous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3447288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3–6 months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657600" y="3858768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dashboards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949440" y="2743200"/>
            <a:ext cx="201168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12280" y="2688336"/>
            <a:ext cx="109728" cy="109728"/>
          </a:xfrm>
          <a:prstGeom prst="ellipse">
            <a:avLst/>
          </a:prstGeom>
          <a:solidFill>
            <a:srgbClr val="B9D03F"/>
          </a:solidFill>
          <a:ln w="12700">
            <a:solidFill>
              <a:srgbClr val="B9D03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063240"/>
            <a:ext cx="2057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→ Adaptive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0" y="3447288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6–9 months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400800" y="3858768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rights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692640" y="2743200"/>
            <a:ext cx="201168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555480" y="2688336"/>
            <a:ext cx="109728" cy="109728"/>
          </a:xfrm>
          <a:prstGeom prst="ellipse">
            <a:avLst/>
          </a:prstGeom>
          <a:solidFill>
            <a:srgbClr val="B9D03F"/>
          </a:solidFill>
          <a:ln w="12700">
            <a:solidFill>
              <a:srgbClr val="B9D03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3063240"/>
            <a:ext cx="2057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→ Intelligent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0" y="3447288"/>
            <a:ext cx="2057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144000" y="3858768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+ culture shift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2377440" y="5074920"/>
            <a:ext cx="7406640" cy="685800"/>
          </a:xfrm>
          <a:prstGeom prst="roundRect">
            <a:avLst>
              <a:gd name="adj" fmla="val 10667"/>
            </a:avLst>
          </a:prstGeom>
          <a:solidFill>
            <a:srgbClr val="E8ECE8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5312664"/>
            <a:ext cx="63093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 →  Governance decision  →  Control change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D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won't replace compliance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96112" y="1682496"/>
            <a:ext cx="69494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DE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will replace static governance by expanding awareness and surfacing conflicts for human judgment.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148840" y="3419856"/>
            <a:ext cx="141732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80560" y="3419856"/>
            <a:ext cx="141732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12280" y="3419856"/>
            <a:ext cx="1417320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26060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6372F"/>
          </a:solidFill>
          <a:ln w="12700">
            <a:solidFill>
              <a:srgbClr val="3F51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063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26060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B9D03F"/>
          </a:solidFill>
          <a:ln w="12700">
            <a:solidFill>
              <a:srgbClr val="B9D0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3063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77840" y="26060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6372F"/>
          </a:solidFill>
          <a:ln w="12700">
            <a:solidFill>
              <a:srgbClr val="3F51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3063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judgment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09560" y="26060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6372F"/>
          </a:solidFill>
          <a:ln w="12700">
            <a:solidFill>
              <a:srgbClr val="3F51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9288" y="3063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80960" y="4526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B9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expands awareness.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B9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remain accountable.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D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7680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organizations that actually learn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69494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enables adaptation. Governance coordinates it. Leadership reinforces it.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614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" y="3063240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intelligence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5568" y="3547872"/>
            <a:ext cx="416966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cross-functional risk briefings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signal repository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escalation paths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400800" y="256032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26372F"/>
          </a:solidFill>
          <a:ln w="12700">
            <a:solidFill>
              <a:srgbClr val="3D4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27614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D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01968" y="3063240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governance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01968" y="3547872"/>
            <a:ext cx="416966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F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decision rights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F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when evidence is available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F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implementation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2926080" y="54864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 is the operating system.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SHIFT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what matters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45720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efficiency metrics to adaptation metrics.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43891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metrics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33832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Alert volumes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False-positive rate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Investigation time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Productivity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2423160"/>
            <a:ext cx="4389120" cy="2651760"/>
          </a:xfrm>
          <a:prstGeom prst="roundRect">
            <a:avLst>
              <a:gd name="adj" fmla="val 2759"/>
            </a:avLst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metrics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0" y="3246120"/>
            <a:ext cx="33832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Speed of risk detection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7DE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drift detection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7DE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to implement changes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7DE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Learning impact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04688" y="3749040"/>
            <a:ext cx="804672" cy="0"/>
          </a:xfrm>
          <a:prstGeom prst="line">
            <a:avLst/>
          </a:prstGeom>
          <a:noFill/>
          <a:ln w="12700">
            <a:solidFill>
              <a:srgbClr val="B9D03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057400" y="55595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Organizations rarely improve what they fail to measure.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VALUE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7955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compliance as strategic capability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64008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 a defensive posture: a faster way to grow with confidence.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" y="283464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3319272"/>
            <a:ext cx="2843784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new markets with confidence.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572000" y="23317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73168" y="283464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73168" y="3319272"/>
            <a:ext cx="2843784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Regulators, partners and customers see an institution that understands risk.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275320" y="23317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76488" y="283464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decisions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6488" y="3319272"/>
            <a:ext cx="2843784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leaders get sharper context for strategy.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868680" y="384048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40416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" y="434340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69848" y="4828032"/>
            <a:ext cx="2843784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Continuously updated controls are more effective and less costly.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4572000" y="384048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26372F"/>
          </a:solidFill>
          <a:ln w="12700">
            <a:solidFill>
              <a:srgbClr val="3D4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40416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D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434340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73168" y="4828032"/>
            <a:ext cx="2843784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F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before external intervention becomes necessary.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2057400" y="5669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compliance turns risk management into strategic confidence.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roadmap: where to start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65836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capability that matches your current maturity stage.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10241280" cy="566928"/>
          </a:xfrm>
          <a:prstGeom prst="roundRect">
            <a:avLst>
              <a:gd name="adj" fmla="val 8065"/>
            </a:avLst>
          </a:prstGeom>
          <a:solidFill>
            <a:srgbClr val="E8ECE8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523744"/>
            <a:ext cx="12801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Reactive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26080" y="2523744"/>
            <a:ext cx="18288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Chapter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523744"/>
            <a:ext cx="32004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monthly governance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0" y="2523744"/>
            <a:ext cx="14630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months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118104"/>
            <a:ext cx="10241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310128"/>
            <a:ext cx="12801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3310128"/>
            <a:ext cx="18288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Chapter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310128"/>
            <a:ext cx="32004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continuous monitoring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0" y="3310128"/>
            <a:ext cx="14630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3–6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904488"/>
            <a:ext cx="10241280" cy="566928"/>
          </a:xfrm>
          <a:prstGeom prst="roundRect">
            <a:avLst>
              <a:gd name="adj" fmla="val 8065"/>
            </a:avLst>
          </a:prstGeom>
          <a:solidFill>
            <a:srgbClr val="E8ECE8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096512"/>
            <a:ext cx="12801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26080" y="4096512"/>
            <a:ext cx="18288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Chapter 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096512"/>
            <a:ext cx="32004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decision rights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0" y="4096512"/>
            <a:ext cx="14630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6–9 months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690872"/>
            <a:ext cx="10241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882896"/>
            <a:ext cx="12801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926080" y="4882896"/>
            <a:ext cx="18288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Chapter 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882896"/>
            <a:ext cx="320040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AI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0" y="4882896"/>
            <a:ext cx="14630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Ongoing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48840" y="56692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one capability first: monitoring, AI integration or organizational redesign.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TOOLKIT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leaders should ask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62179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diagnostic for whether governance is learning fast enough.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" y="2834640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5568" y="3319272"/>
            <a:ext cx="4398264" cy="-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quickly does governance recognize material changes in risk?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538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" y="3840480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5568" y="4325112"/>
            <a:ext cx="4398264" cy="-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controls depend on assumptions not being monitored continuously?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914400" y="434340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5445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" y="4846320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15568" y="5330952"/>
            <a:ext cx="4398264" cy="-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risk intelligence get trapped before reaching decision-makers?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355080" y="233172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56248" y="2834640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56248" y="3319272"/>
            <a:ext cx="4398264" cy="-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long from detecting a new typology to changing a control?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355080" y="333756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6248" y="3538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56248" y="3840480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56248" y="4325112"/>
            <a:ext cx="4398264" cy="-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investigations, audits or findings changed future controls?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355080" y="4343400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45445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56248" y="4846320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56248" y="5330952"/>
            <a:ext cx="4398264" cy="-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compliance enable faster, better-informed business decisions?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D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 of Rules Alone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Rules, models and controls remain essential.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are no longer sufficient on their own.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822960" cy="64008"/>
          </a:xfrm>
          <a:prstGeom prst="rect">
            <a:avLst/>
          </a:prstGeom>
          <a:solidFill>
            <a:srgbClr val="B9D03F"/>
          </a:solidFill>
          <a:ln w="12700">
            <a:solidFill>
              <a:srgbClr val="B9D03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11880"/>
            <a:ext cx="6126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CE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defining capability of modern compliance is the ability to recognize change, challenge assumptions and adapt governance continuously.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35240" y="1828800"/>
            <a:ext cx="3200400" cy="3063240"/>
          </a:xfrm>
          <a:prstGeom prst="roundRect">
            <a:avLst>
              <a:gd name="adj" fmla="val 2388"/>
            </a:avLst>
          </a:prstGeom>
          <a:solidFill>
            <a:srgbClr val="B9D03F"/>
          </a:solidFill>
          <a:ln w="12700">
            <a:solidFill>
              <a:srgbClr val="B9D03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2331720"/>
            <a:ext cx="24688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institutions that move fastest are not those that ignore risk.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are those that understand it earliest.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D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TO ACTION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6858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argument into action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62179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sequence for teams, boards and governance forums.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6243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" y="2926080"/>
            <a:ext cx="4261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5568" y="3410712"/>
            <a:ext cx="4261104" cy="-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Series, Volume I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309360" y="242316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6243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10528" y="2926080"/>
            <a:ext cx="4261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10528" y="3410712"/>
            <a:ext cx="4261104" cy="-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Quick Diagnostic to assess governance maturity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914400" y="393192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133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" y="4434840"/>
            <a:ext cx="4261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15568" y="4919472"/>
            <a:ext cx="4261104" cy="-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implementation roadmap for your organization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26372F"/>
          </a:solidFill>
          <a:ln w="12700">
            <a:solidFill>
              <a:srgbClr val="3D4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4133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D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10528" y="4434840"/>
            <a:ext cx="4261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10528" y="4919472"/>
            <a:ext cx="4261104" cy="-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F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one capability: monitoring, AI or redesign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914400" y="5742432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speaking, advisory and publishing enquiries: michealsheehy@gmail.com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54864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658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48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68680" y="97840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speaker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7040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compliance leadership at the intersection of payments, financial crime risk, technology and organizational design.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64008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9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651760"/>
            <a:ext cx="5806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 is Chief Compliance Officer at Payoneer, leading a global compliance function spanning regulatory affairs, sanctions, financial crime and AML/BSA.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 work focuses on building scalable compliance programs, modernizing customer and transaction controls, and helping international businesses grow with confidence across complex regulatory environments.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721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 synthesizes two decades of observing why some compliance organizations adapt early while others remain trapped in periodic governance cycles.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7772400" y="2331720"/>
            <a:ext cx="3291840" cy="2788920"/>
          </a:xfrm>
          <a:prstGeom prst="roundRect">
            <a:avLst>
              <a:gd name="adj" fmla="val 2623"/>
            </a:avLst>
          </a:prstGeom>
          <a:solidFill>
            <a:srgbClr val="1B2A24"/>
          </a:solidFill>
          <a:ln w="12700">
            <a:solidFill>
              <a:srgbClr val="1B2A2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2880360"/>
            <a:ext cx="24688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 · Compliance · AI · Adaptive Governance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8388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5D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michealsheehy.com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5D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michealsheehy@gmail.com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84832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0140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Micheal Sheehy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End of Rules Alone</dc:title>
  <dc:subject>The Adaptive Compliance Series support presentation</dc:subject>
  <dc:creator>Micheal Sheehy</dc:creator>
  <cp:lastModifiedBy>Micheal Sheehy</cp:lastModifiedBy>
  <cp:revision>1</cp:revision>
  <dcterms:created xsi:type="dcterms:W3CDTF">2026-07-26T18:23:07Z</dcterms:created>
  <dcterms:modified xsi:type="dcterms:W3CDTF">2026-07-26T18:23:07Z</dcterms:modified>
</cp:coreProperties>
</file>