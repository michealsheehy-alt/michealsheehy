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this as a practical build guide, not a keynote summary. Emphasize that the chapter's idea becomes valuable only when leaders know how to implement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set expectations: the deck is designed for a working session. Invite the audience to compare each section against their own current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chapter as a practical bridge from the current operating problem to a measurable target state. Ask participants to name where their own organization sits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as an implementation plan. Emphasize dependencies: do not automate controls before you understand ownership, evidence, and decision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reusable working template. Encourage teams to replace the example rows with their own current-state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reusable working template. Encourage teams to replace the example rows with their own current-state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matrix to force prioritization. The goal is to make governance choices explicit instead of treating every item as equally urgent.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decision rights. Many implementation programs stall because the organization never makes ownership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reusable working template. Encourage teams to replace the example rows with their own current-state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case as an anonymized example. Avoid proprietary thresholds or customer details. Focus on operating principles, implementation sequence, and governance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closing action slide for executives. Ask them to identify what can begin immediately using existing teams 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make the content practical and credible. Failure modes are often more useful than best practices because they describe what leaders must actively prevent.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turns the deck into a facilitation tool. The presenter should leave with named owners, near-term actions, and a decision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practical commitment: what will the organization build, measure, or change in the next quarter?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reusable template. Ask participants to fill in the left side before seeking governance approval; use the right side to standardize evidence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forcing a specific discussion. The aim is not agreement; it is to reveal where the organization lacks evidence, decision rights, or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11712" cy="6080760"/>
          </a:xfrm>
          <a:prstGeom prst="rect">
            <a:avLst/>
          </a:prstGeom>
          <a:solidFill>
            <a:srgbClr val="0A1E2E">
              <a:alpha val="0"/>
            </a:srgbClr>
          </a:solidFill>
          <a:ln w="15240">
            <a:solidFill>
              <a:srgbClr val="C9A7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10424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Won’t Replace Compliance. It Will Replace Static Governance.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58368" y="2852928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implement AI with accountability, oversight and human judgment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14300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173B35"/>
          </a:solidFill>
          <a:ln w="12700">
            <a:solidFill>
              <a:srgbClr val="173B3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234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18120" y="192024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173B35"/>
          </a:solidFill>
          <a:ln w="12700">
            <a:solidFill>
              <a:srgbClr val="173B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0116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18120" y="269748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C9A75C"/>
          </a:solidFill>
          <a:ln w="12700">
            <a:solidFill>
              <a:srgbClr val="C9A75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7889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347472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173B35"/>
          </a:solidFill>
          <a:ln w="12700">
            <a:solidFill>
              <a:srgbClr val="173B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5661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425196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173B35"/>
          </a:solidFill>
          <a:ln w="12700">
            <a:solidFill>
              <a:srgbClr val="173B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3434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plan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580644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deck with speaker notes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agenda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turn the chapter thesis into an operating capability.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Define the target state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457200" cy="457200"/>
          </a:xfrm>
          <a:prstGeom prst="chevron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581912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the operating capability the chapter requires.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77240" y="2368296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Assess the current state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0" y="2322576"/>
            <a:ext cx="457200" cy="457200"/>
          </a:xfrm>
          <a:prstGeom prst="chevron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50008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structured diagnostics instead of abstract debate.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77240" y="3136392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Build the implementation sequence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0" y="3090672"/>
            <a:ext cx="457200" cy="457200"/>
          </a:xfrm>
          <a:prstGeom prst="chevron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118104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minimum viable build before scaling.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77240" y="3904488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Assign decision rights and governance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0" y="3858768"/>
            <a:ext cx="457200" cy="457200"/>
          </a:xfrm>
          <a:prstGeom prst="chevron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886200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ownership and escalation explicit.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77240" y="4672584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Measure outcomes and sustain improvement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0" y="4626864"/>
            <a:ext cx="457200" cy="457200"/>
          </a:xfrm>
          <a:prstGeom prst="chevron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4654296"/>
            <a:ext cx="4343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 metrics to decisions, not reporting theatre.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problem to target state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7EF"/>
          </a:solidFill>
          <a:ln w="12700">
            <a:solidFill>
              <a:srgbClr val="E8C5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87452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8EE"/>
          </a:solidFill>
          <a:ln w="12700">
            <a:solidFill>
              <a:srgbClr val="BFD6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48840"/>
            <a:ext cx="34747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use cases selected opportunistically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Human-in-the-loop undefined or symbolic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 quality and hallucination controls unclear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Board reporting focuses on excitement rather than risk and accountability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2148840"/>
            <a:ext cx="34747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use-case inventory and risk tiering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human review, approval and override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cards, testing, auditability and incident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used to improve governance awareness, not obscure accountability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38928" y="2816352"/>
            <a:ext cx="1783080" cy="777240"/>
          </a:xfrm>
          <a:prstGeom prst="rightArrow">
            <a:avLst/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9535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sequence: govern AI before scaling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AI governance path for compliance leaders.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AI use cases, data sources, decisions influenced and user groups.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430780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0A1E2E"/>
          </a:solidFill>
          <a:ln w="12700">
            <a:solidFill>
              <a:srgbClr val="0A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9652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7940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7940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by risk: assist, recommend, decide, execute.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294632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3504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1792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31792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human review, quality testing, privacy, security and output controls.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158484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0A1E2E"/>
          </a:solidFill>
          <a:ln w="12700">
            <a:solidFill>
              <a:srgbClr val="0A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7356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5644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95644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model cards, use-case approval, vendor due diligence and accountability.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022336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1208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59496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59496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accuracy, overrides, drift, bias, incidents and user behavior.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886188" y="1828800"/>
            <a:ext cx="1744980" cy="1965960"/>
          </a:xfrm>
          <a:prstGeom prst="roundRect">
            <a:avLst>
              <a:gd name="adj" fmla="val 4192"/>
            </a:avLst>
          </a:prstGeom>
          <a:solidFill>
            <a:srgbClr val="0A1E2E"/>
          </a:solidFill>
          <a:ln w="12700">
            <a:solidFill>
              <a:srgbClr val="0A1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5060" y="19385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23348" y="2212848"/>
            <a:ext cx="14889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23348" y="2697480"/>
            <a:ext cx="14889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9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only when evidence shows quality, safety and governance maturity.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22960" y="4480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not whether AI is useful. The question is what decisions it influences and who remains accountable.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use-case risk tiers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intensity increases with decision impact.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109728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2377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role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977640" y="1627632"/>
            <a:ext cx="347472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452360" y="1627632"/>
            <a:ext cx="42062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governance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10972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Assist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600200" y="2029968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Summarizes or drafts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977640" y="2029968"/>
            <a:ext cx="34747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narrative, policy summary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452360" y="2029968"/>
            <a:ext cx="42062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sampling, user training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02920" y="2827325"/>
            <a:ext cx="109728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Recommend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600200" y="2827325"/>
            <a:ext cx="23774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action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977640" y="2827325"/>
            <a:ext cx="347472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rationale, alert prioritization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452360" y="2827325"/>
            <a:ext cx="42062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approval, override tracking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02920" y="3624682"/>
            <a:ext cx="10972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Decide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600200" y="3624682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Determines outcome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977640" y="3624682"/>
            <a:ext cx="34747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Auto-close, risk rating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452360" y="3624682"/>
            <a:ext cx="42062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governance approval, monitoring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02920" y="4422038"/>
            <a:ext cx="109728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Execute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600200" y="4422038"/>
            <a:ext cx="23774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Takes action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977640" y="4422038"/>
            <a:ext cx="347472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Freeze, exit, report submission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452360" y="4422038"/>
            <a:ext cx="42062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scrutiny, legal review, incident plan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02920" y="5219395"/>
            <a:ext cx="10972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Systemic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600200" y="5219395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Impacts enterprise governance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977640" y="5219395"/>
            <a:ext cx="34747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monitoring controls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452360" y="5219395"/>
            <a:ext cx="42062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visibility, model risk framework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control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controls before production use.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2377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area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80360" y="1627632"/>
            <a:ext cx="457200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define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452360" y="1627632"/>
            <a:ext cx="42062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23774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privacy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880360" y="2029968"/>
            <a:ext cx="457200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Permitted data and retention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452360" y="2029968"/>
            <a:ext cx="42062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map, privacy review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502920" y="2772461"/>
            <a:ext cx="237744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880360" y="2772461"/>
            <a:ext cx="457200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set and acceptance criteria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452360" y="2772461"/>
            <a:ext cx="420624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results, benchmark tests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502920" y="3514954"/>
            <a:ext cx="23774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880360" y="3514954"/>
            <a:ext cx="457200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output was produced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452360" y="3514954"/>
            <a:ext cx="42062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 logs, model card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02920" y="4257446"/>
            <a:ext cx="237744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oversight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2880360" y="4257446"/>
            <a:ext cx="457200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approves or overrides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452360" y="4257446"/>
            <a:ext cx="4206240" cy="742493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and decision log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02920" y="4999939"/>
            <a:ext cx="23774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2880360" y="4999939"/>
            <a:ext cx="457200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AI fails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452360" y="4999939"/>
            <a:ext cx="4206240" cy="742493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playbook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oversight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oversight to AI influence.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08760"/>
            <a:ext cx="9966960" cy="4343400"/>
          </a:xfrm>
          <a:prstGeom prst="rect">
            <a:avLst/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137160" y="28803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58795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autonomy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155448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FF3E8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75564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impact / low autonomy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12140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review and QA sampling.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89320" y="155448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5F4ED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5564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impact / low autonomy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2140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human approval and decision logging.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60120" y="370332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5F4ED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90448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impact / high autonomy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2702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for drift and customer impact.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89320" y="370332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FF1ED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90448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impact / high autonomy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42702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or require enhanced governance, validation and board visibility.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 RACI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Responsible | A = Accountable | C = Consulted | I = Informed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246888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971800" y="1627632"/>
            <a:ext cx="1234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206240" y="1627632"/>
            <a:ext cx="114300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349240" y="1627632"/>
            <a:ext cx="1234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Tech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583680" y="1627632"/>
            <a:ext cx="91440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498080" y="1627632"/>
            <a:ext cx="1234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/ Reg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732520" y="1627632"/>
            <a:ext cx="109728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/ ExCo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2029968"/>
            <a:ext cx="24688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use-case inventory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2971800" y="202996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206240" y="2029968"/>
            <a:ext cx="11430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349240" y="202996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583680" y="2029968"/>
            <a:ext cx="9144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498080" y="202996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8732520" y="2029968"/>
            <a:ext cx="10972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02920" y="2754173"/>
            <a:ext cx="246888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 model risk review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971800" y="2754173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206240" y="2754173"/>
            <a:ext cx="114300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349240" y="2754173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583680" y="2754173"/>
            <a:ext cx="91440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498080" y="2754173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732520" y="2754173"/>
            <a:ext cx="109728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502920" y="3478378"/>
            <a:ext cx="24688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human oversight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971800" y="347837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206240" y="3478378"/>
            <a:ext cx="11430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349240" y="347837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583680" y="3478378"/>
            <a:ext cx="9144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498080" y="3478378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732520" y="3478378"/>
            <a:ext cx="10972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02920" y="4202582"/>
            <a:ext cx="246888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AI quality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2971800" y="4202582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4206240" y="4202582"/>
            <a:ext cx="114300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5349240" y="4202582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583680" y="4202582"/>
            <a:ext cx="91440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7498080" y="4202582"/>
            <a:ext cx="123444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8732520" y="4202582"/>
            <a:ext cx="1097280" cy="724205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502920" y="4926787"/>
            <a:ext cx="24688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AI incident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2971800" y="4926787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4206240" y="4926787"/>
            <a:ext cx="11430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5349240" y="4926787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6583680" y="4926787"/>
            <a:ext cx="91440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7498080" y="4926787"/>
            <a:ext cx="123444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732520" y="4926787"/>
            <a:ext cx="1097280" cy="724205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A/I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should reveal risk, quality and adoption.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23774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80360" y="1627632"/>
            <a:ext cx="329184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172200" y="1627632"/>
            <a:ext cx="384048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triggered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012680" y="1627632"/>
            <a:ext cx="1645920" cy="402336"/>
          </a:xfrm>
          <a:prstGeom prst="rect">
            <a:avLst/>
          </a:prstGeom>
          <a:solidFill>
            <a:srgbClr val="173B35"/>
          </a:solidFill>
          <a:ln w="5080">
            <a:solidFill>
              <a:srgbClr val="D8CC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accuracy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880360" y="2029968"/>
            <a:ext cx="32918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outputs / tested cases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172200" y="2029968"/>
            <a:ext cx="38404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Retrain, restrict or rollback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0012680" y="2029968"/>
            <a:ext cx="16459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Owner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02920" y="2827325"/>
            <a:ext cx="23774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 rate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2880360" y="2827325"/>
            <a:ext cx="32918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overrides of AI recommendation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172200" y="2827325"/>
            <a:ext cx="384048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logic or user guidance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0012680" y="2827325"/>
            <a:ext cx="164592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Ops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02920" y="3624682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incidents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2880360" y="3624682"/>
            <a:ext cx="32918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or false outputs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172200" y="3624682"/>
            <a:ext cx="38404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 and root cause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0012680" y="3624682"/>
            <a:ext cx="16459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02920" y="4422038"/>
            <a:ext cx="23774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reliance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880360" y="4422038"/>
            <a:ext cx="329184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without proper review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172200" y="4422038"/>
            <a:ext cx="384048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or control change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012680" y="4422038"/>
            <a:ext cx="1645920" cy="797357"/>
          </a:xfrm>
          <a:prstGeom prst="rect">
            <a:avLst/>
          </a:prstGeom>
          <a:solidFill>
            <a:srgbClr val="F4F0E8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Lead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502920" y="5219395"/>
            <a:ext cx="23774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880360" y="5219395"/>
            <a:ext cx="329184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Adverse actions influenced by AI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172200" y="5219395"/>
            <a:ext cx="384048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review and testing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10012680" y="5219395"/>
            <a:ext cx="1645920" cy="797357"/>
          </a:xfrm>
          <a:prstGeom prst="rect">
            <a:avLst/>
          </a:prstGeom>
          <a:solidFill>
            <a:srgbClr val="FDFBF6"/>
          </a:solidFill>
          <a:ln w="4445">
            <a:solidFill>
              <a:srgbClr val="D8CC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case study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governance, not autonomous compliance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728216"/>
            <a:ext cx="299923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16" y="2075688"/>
            <a:ext cx="2999232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compliance team wanted to use AI to improve investigator productivity and governance awareness.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728216"/>
            <a:ext cx="299923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7136" y="2075688"/>
            <a:ext cx="2999232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 was treating AI as a black-box decision maker rather than a governed assistant.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1728216"/>
            <a:ext cx="299923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0456" y="2075688"/>
            <a:ext cx="2999232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 were tiered; summaries and recommendations required human approval and QA sampling.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42032" y="38862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4014216"/>
            <a:ext cx="299923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70048" y="4361688"/>
            <a:ext cx="2999232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cards, testing, override logs and incident procedures were implemented before scaling.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45352" y="38862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4014216"/>
            <a:ext cx="299923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3368" y="4361688"/>
            <a:ext cx="2999232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AF1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creates advantage when it improves awareness and judgment while preserving accountability.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60 / 90-day action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concept into action without waiting for a multi-year transformation.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0A1E2E"/>
          </a:solidFill>
          <a:ln w="12700">
            <a:solidFill>
              <a:srgbClr val="0A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828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1832" y="2331720"/>
            <a:ext cx="281635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AI use-case inventory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Classify decision influence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sensitive data exposure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one low-risk pilot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53128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828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days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331720"/>
            <a:ext cx="281635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model card template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human review workflow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QA and override tracking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privacy and legal review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0456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C9A75C"/>
          </a:solidFill>
          <a:ln w="12700">
            <a:solidFill>
              <a:srgbClr val="C9A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828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76488" y="2331720"/>
            <a:ext cx="281635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Launch governed pilot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 quality and incidents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 to AI governance forum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Decide scale / refine / stop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failure modes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implementation efforts tend to stall.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84048" cy="274320"/>
          </a:xfrm>
          <a:prstGeom prst="rect">
            <a:avLst/>
          </a:prstGeom>
          <a:solidFill>
            <a:srgbClr val="A85B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Use-case sprawl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508760"/>
            <a:ext cx="66751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pilots multiply without inventory or risk tiering.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40864"/>
            <a:ext cx="384048" cy="274320"/>
          </a:xfrm>
          <a:prstGeom prst="rect">
            <a:avLst/>
          </a:prstGeom>
          <a:solidFill>
            <a:srgbClr val="A85B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3108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human-in-loop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295144"/>
            <a:ext cx="66751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exists in theory but not in workflow or evidence.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384048" cy="274320"/>
          </a:xfrm>
          <a:prstGeom prst="rect">
            <a:avLst/>
          </a:prstGeom>
          <a:solidFill>
            <a:srgbClr val="A85B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081528"/>
            <a:ext cx="3108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output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081528"/>
            <a:ext cx="66751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assume fluency equals accuracy.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913632"/>
            <a:ext cx="384048" cy="274320"/>
          </a:xfrm>
          <a:prstGeom prst="rect">
            <a:avLst/>
          </a:prstGeom>
          <a:solidFill>
            <a:srgbClr val="A85B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867912"/>
            <a:ext cx="3108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auditability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867912"/>
            <a:ext cx="66751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influenced by AI cannot be reconstructed.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700016"/>
            <a:ext cx="384048" cy="274320"/>
          </a:xfrm>
          <a:prstGeom prst="rect">
            <a:avLst/>
          </a:prstGeom>
          <a:solidFill>
            <a:srgbClr val="A85B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4654296"/>
            <a:ext cx="3108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too fast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654296"/>
            <a:ext cx="66751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pilot becomes enterprise risk before governance matures.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exercise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turn discussion into decisions.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60-minute working session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43434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 current and planned AI uses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Classify each by decision impact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required human controls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evidence needed for approval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one pilot and one prohibited 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to capture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12280" y="2423160"/>
            <a:ext cx="40233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use-case inventory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Risk-tier classification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oversight design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card draft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QA and incident plan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leaders should do next.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365760" cy="256032"/>
          </a:xfrm>
          <a:prstGeom prst="rect">
            <a:avLst/>
          </a:prstGeom>
          <a:solidFill>
            <a:srgbClr val="C9A75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554480"/>
            <a:ext cx="9326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starts with use-case inventory.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350008"/>
            <a:ext cx="365760" cy="256032"/>
          </a:xfrm>
          <a:prstGeom prst="rect">
            <a:avLst/>
          </a:prstGeom>
          <a:solidFill>
            <a:srgbClr val="C9A75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331720"/>
            <a:ext cx="9326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Oversight must match decision impact.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365760" cy="256032"/>
          </a:xfrm>
          <a:prstGeom prst="rect">
            <a:avLst/>
          </a:prstGeom>
          <a:solidFill>
            <a:srgbClr val="C9A75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108960"/>
            <a:ext cx="9326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accountability must be designed into workflow.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04488"/>
            <a:ext cx="365760" cy="256032"/>
          </a:xfrm>
          <a:prstGeom prst="rect">
            <a:avLst/>
          </a:prstGeom>
          <a:solidFill>
            <a:srgbClr val="C9A75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886200"/>
            <a:ext cx="9326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outputs before scaling.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365760" cy="256032"/>
          </a:xfrm>
          <a:prstGeom prst="rect">
            <a:avLst/>
          </a:prstGeom>
          <a:solidFill>
            <a:srgbClr val="C9A75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326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strengthen governance awareness.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not autonomous compliance. It is augmented governance.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working template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this slide into your own working session.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DFBF6"/>
          </a:solidFill>
          <a:ln w="12700">
            <a:solidFill>
              <a:srgbClr val="D8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83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record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2976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Options considered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reviewed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 and approver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Date, rationale and conditions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Post-decision monitoring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173B35"/>
          </a:solidFill>
          <a:ln w="12700">
            <a:solidFill>
              <a:srgbClr val="173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7830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pack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2331720"/>
            <a:ext cx="42062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analysis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assessment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impact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impact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Legal/regulatory 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and QA evidence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leaders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85953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to start an executive or board discussion.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6908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Ch. 5 — AI governance implementation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D8CC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54480"/>
            <a:ext cx="10424160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governance starts with use-case inventory?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Oversight must match decision impact?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accountability must be designed into workflow?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outputs before scaling?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AI to strengthen governance awareness?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943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58978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of these questions would be hardest to answer with evidence today?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The Adaptive Compliance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Won’t Replace Compliance. It Will Replace Static Governance.</dc:title>
  <dc:subject>AI Won’t Replace Compliance. It Will Replace Static Governance.</dc:subject>
  <dc:creator>Micheal Sheehy</dc:creator>
  <cp:lastModifiedBy>Micheal Sheehy</cp:lastModifiedBy>
  <cp:revision>1</cp:revision>
  <dcterms:created xsi:type="dcterms:W3CDTF">2026-07-27T15:12:28Z</dcterms:created>
  <dcterms:modified xsi:type="dcterms:W3CDTF">2026-07-27T15:12:28Z</dcterms:modified>
</cp:coreProperties>
</file>